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embeddedFontLst>
    <p:embeddedFont>
      <p:font typeface="Hogook Bold"/>
      <p:regular r:id="rIdFont1"/>
    </p:embeddedFont>
    <p:embeddedFont>
      <p:font typeface="Instrument Serif"/>
      <p:regular r:id="rId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or-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19278"/>
            <a:ext cx="12191695" cy="1625559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A0A">
                  <a:alpha val="0"/>
                </a:srgbClr>
              </a:gs>
              <a:gs pos="100000">
                <a:srgbClr val="0A0A0A">
                  <a:alpha val="80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41732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lang="ko-KR" spc="260">
                <a:solidFill>
                  <a:srgbClr val="A89E8A"/>
                </a:solidFill>
                <a:latin typeface="Courier New"/>
                <a:ea typeface="Courier New"/>
                <a:cs typeface="Courier New"/>
              </a:rPr>
              <a:t>CAPSTONE PROJECT 2026 · GAME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592927" y="1938528"/>
            <a:ext cx="1005840" cy="12801"/>
          </a:xfrm>
          <a:prstGeom prst="rect">
            <a:avLst/>
          </a:prstGeom>
          <a:solidFill>
            <a:srgbClr val="4A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423160"/>
            <a:ext cx="1219169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6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괴이탐사국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434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 lang="ko-KR" spc="900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INSPECTOR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INDEX · 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121408"/>
            <a:ext cx="2483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세계관 브리핑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57984"/>
            <a:ext cx="46785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WORLD BRIEFING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4678527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7977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98064"/>
            <a:ext cx="2483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게임 소개 · 시연 영상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46785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GAME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236976"/>
            <a:ext cx="4678527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564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474720"/>
            <a:ext cx="2483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세션 디자인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11296"/>
            <a:ext cx="46785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SESSION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913631"/>
            <a:ext cx="4678527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33087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151375"/>
            <a:ext cx="2483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핵심 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87951"/>
            <a:ext cx="46785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CORE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590288"/>
            <a:ext cx="4678527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0974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828031"/>
            <a:ext cx="2483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개발 개요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64607"/>
            <a:ext cx="46785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DEVELOPMENT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266944"/>
            <a:ext cx="4678527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4864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504688"/>
            <a:ext cx="2483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개발 일정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41264"/>
            <a:ext cx="46785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SCHEDULE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943600"/>
            <a:ext cx="4678527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7327" y="21031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3127" y="2121408"/>
            <a:ext cx="2483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플레이 흐름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7" y="2157984"/>
            <a:ext cx="46785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07327" y="2560320"/>
            <a:ext cx="4678527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327" y="277977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3127" y="2798064"/>
            <a:ext cx="2483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덱 시스템 &amp; 전투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7" y="2834640"/>
            <a:ext cx="46785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SYSTEM DETAIL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07327" y="3236976"/>
            <a:ext cx="4678527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7327" y="34564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3127" y="3474720"/>
            <a:ext cx="2483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플레이 루프 / MVP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7327" y="3511296"/>
            <a:ext cx="46785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LOOP &amp; MVP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07327" y="3913631"/>
            <a:ext cx="4678527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7327" y="4133087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3127" y="4151375"/>
            <a:ext cx="2483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차별점 &amp; 타깃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7327" y="4187951"/>
            <a:ext cx="46785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DIFFERENTIATION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07327" y="4590288"/>
            <a:ext cx="4678527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07327" y="480974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3127" y="4828031"/>
            <a:ext cx="2483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팀 소개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7327" y="4864607"/>
            <a:ext cx="46785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TEAM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07327" y="5266944"/>
            <a:ext cx="4678527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01 · WORLD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세계관 브리핑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lang="ko-KR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// 균열 내 괴이를 관리하는 비밀 조직, 반복되는 탐사, 끝나지 않는 임무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057400"/>
            <a:ext cx="4907127" cy="3977639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4175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SYNOPSIS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4175607" cy="288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lang="ko-KR">
                <a:solidFill>
                  <a:srgbClr val="9E9282"/>
                </a:solidFill>
                <a:latin typeface="Malgun Gothic"/>
                <a:ea typeface="Malgun Gothic"/>
                <a:cs typeface="Malgun Gothic"/>
              </a:rPr>
              <a:t>플레이어는 </a:t>
            </a:r>
            <a:r>
              <a:rPr sz="13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괴이탐사국 소속 조사원</a:t>
            </a:r>
            <a:r>
              <a:rPr sz="1300" b="0" i="0" lang="ko-KR">
                <a:solidFill>
                  <a:srgbClr val="9E9282"/>
                </a:solidFill>
                <a:latin typeface="Malgun Gothic"/>
                <a:ea typeface="Malgun Gothic"/>
                <a:cs typeface="Malgun Gothic"/>
              </a:rPr>
              <a:t>으로서 여러 괴이가 출몰하는 </a:t>
            </a:r>
            <a:r>
              <a:rPr sz="13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4번 균열</a:t>
            </a:r>
            <a:r>
              <a:rPr sz="1300" b="0" i="0" lang="ko-KR">
                <a:solidFill>
                  <a:srgbClr val="9E9282"/>
                </a:solidFill>
                <a:latin typeface="Malgun Gothic"/>
                <a:ea typeface="Malgun Gothic"/>
                <a:cs typeface="Malgun Gothic"/>
              </a:rPr>
              <a:t>을 탐사한다.</a:t>
            </a:r>
          </a:p>
          <a:p>
            <a:pPr algn="l">
              <a:lnSpc>
                <a:spcPct val="135000"/>
              </a:lnSpc>
            </a:pPr>
            <a:r>
              <a:rPr sz="80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용병을 모집하고, 팀을 정비하며, 전투와 사건을 통해 괴이를 격리하고 최종적으로 균열 폐쇄를 목표로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057400"/>
            <a:ext cx="4907127" cy="3977639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423160"/>
            <a:ext cx="4175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WORLD 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2834640"/>
            <a:ext cx="417560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lang="ko-KR">
                <a:solidFill>
                  <a:srgbClr val="9E9282"/>
                </a:solidFill>
                <a:latin typeface="Malgun Gothic"/>
                <a:ea typeface="Malgun Gothic"/>
                <a:cs typeface="Malgun Gothic"/>
              </a:rPr>
              <a:t>임무를 완료해도 자유는 주어지지 않는다. 수첩에는 다음 탐사 브리핑만이 찍히고, 조사관은 다시 균열로 향한다.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4487" y="4389120"/>
            <a:ext cx="20116" cy="1234440"/>
          </a:xfrm>
          <a:prstGeom prst="rect">
            <a:avLst/>
          </a:prstGeom>
          <a:solidFill>
            <a:srgbClr val="4A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99351" y="4389120"/>
            <a:ext cx="4120743" cy="1234440"/>
          </a:xfrm>
          <a:prstGeom prst="rect">
            <a:avLst/>
          </a:prstGeom>
          <a:solidFill>
            <a:srgbClr val="1A1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7095" y="4590288"/>
            <a:ext cx="371840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“임무 완료. 영혼석 회수량: 정상.</a:t>
            </a:r>
          </a:p>
          <a:p>
            <a:pPr algn="l">
              <a:lnSpc>
                <a:spcPct val="140000"/>
              </a:lnSpc>
            </a:pPr>
            <a:r>
              <a:rPr sz="115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다음 탐사 브리핑이 발송되었습니다. 출발 기한: 즉시”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02 · GAME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어떤 게임인가요?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lang="ko-KR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// 덱빌딩 × 오토배틀러 × 로그라이크 하이브리드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011680"/>
            <a:ext cx="3149498" cy="196596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04288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 lang="ko-KR">
                <a:solidFill>
                  <a:srgbClr val="D2C4A7"/>
                </a:solidFill>
                <a:latin typeface="Instrument Serif"/>
                <a:ea typeface="Instrument Serif"/>
                <a:cs typeface="Instrument Serif"/>
              </a:rPr>
              <a:t>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52928"/>
            <a:ext cx="31494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덱빌딩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18688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카드는 직접 공격하지 않고</a:t>
            </a:r>
          </a:p>
          <a:p>
            <a:pPr algn="ctr">
              <a:lnSpc>
                <a:spcPct val="130000"/>
              </a:lnSpc>
            </a:pPr>
            <a:r>
              <a:rPr sz="105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전투 변수를 생성한다.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1098" y="2011680"/>
            <a:ext cx="3149498" cy="196596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2304288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 lang="ko-KR">
                <a:solidFill>
                  <a:srgbClr val="D2C4A7"/>
                </a:solidFill>
                <a:latin typeface="Instrument Serif"/>
                <a:ea typeface="Instrument Serif"/>
                <a:cs typeface="Instrument Serif"/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852928"/>
            <a:ext cx="31494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오토배틀러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218688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동료와 적이 배치 순서에 따라</a:t>
            </a:r>
          </a:p>
          <a:p>
            <a:pPr algn="ctr">
              <a:lnSpc>
                <a:spcPct val="130000"/>
              </a:lnSpc>
            </a:pPr>
            <a:r>
              <a:rPr sz="105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자동으로 행동한다.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6356" y="2011680"/>
            <a:ext cx="3149498" cy="196596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2304288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 lang="ko-KR">
                <a:solidFill>
                  <a:srgbClr val="D2C4A7"/>
                </a:solidFill>
                <a:latin typeface="Instrument Serif"/>
                <a:ea typeface="Instrument Serif"/>
                <a:cs typeface="Instrument Serif"/>
              </a:rPr>
              <a:t>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6356" y="2852928"/>
            <a:ext cx="31494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로그라이크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3218688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탐험 노드 선택과 반복 플레이</a:t>
            </a:r>
          </a:p>
          <a:p>
            <a:pPr algn="ctr">
              <a:lnSpc>
                <a:spcPct val="130000"/>
              </a:lnSpc>
            </a:pPr>
            <a:r>
              <a:rPr sz="105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루프로 긴장감을 만든다.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343400"/>
            <a:ext cx="10180015" cy="1828800"/>
          </a:xfrm>
          <a:prstGeom prst="rect">
            <a:avLst/>
          </a:prstGeom>
          <a:solidFill>
            <a:srgbClr val="0C0D0E"/>
          </a:solidFill>
          <a:ln w="12700">
            <a:solidFill>
              <a:srgbClr val="3331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343400"/>
            <a:ext cx="9631375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 lang="ko-KR" spc="12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[ IMAGE — 전투 화면 / 카드 UI / 손패 스크린샷 ]</a:t>
            </a:r>
          </a:p>
          <a:p>
            <a:pPr algn="ctr">
              <a:spcAft>
                <a:spcPts val="400"/>
              </a:spcAft>
            </a:pPr>
            <a:r>
              <a:rPr sz="900" b="0" i="0" lang="ko-KR">
                <a:solidFill>
                  <a:srgbClr val="3F3A33"/>
                </a:solidFill>
                <a:latin typeface="Malgun Gothic"/>
                <a:ea typeface="Malgun Gothic"/>
                <a:cs typeface="Malgun Gothic"/>
              </a:rPr>
              <a:t>발표 전 인게임 스크린샷으로 교체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02-B · LIVE FOOTAGE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인게임 시연 영상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96112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// IN-GAME CAPTURE · CLASSIFIED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113127" y="1783080"/>
            <a:ext cx="7965440" cy="4480560"/>
          </a:xfrm>
          <a:prstGeom prst="rect">
            <a:avLst/>
          </a:prstGeom>
          <a:solidFill>
            <a:srgbClr val="0C0D0E"/>
          </a:solidFill>
          <a:ln w="12700">
            <a:solidFill>
              <a:srgbClr val="3331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87447" y="1783080"/>
            <a:ext cx="741680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0" i="0" lang="ko-KR">
                <a:solidFill>
                  <a:srgbClr val="3F3A33"/>
                </a:solidFill>
                <a:latin typeface="Instrument Serif"/>
                <a:ea typeface="Instrument Serif"/>
                <a:cs typeface="Instrument Serif"/>
              </a:rPr>
              <a:t>▶</a:t>
            </a:r>
          </a:p>
          <a:p>
            <a:pPr algn="ctr">
              <a:spcAft>
                <a:spcPts val="600"/>
              </a:spcAft>
            </a:pPr>
            <a:r>
              <a:rPr sz="100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1000" b="0" i="0" lang="ko-KR" spc="12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[ VIDEO — 인게임 시연 영상 삽입 ]</a:t>
            </a:r>
          </a:p>
          <a:p>
            <a:pPr algn="ctr">
              <a:spcAft>
                <a:spcPts val="600"/>
              </a:spcAft>
            </a:pPr>
            <a:r>
              <a:rPr sz="900" b="0" i="0" lang="ko-KR">
                <a:solidFill>
                  <a:srgbClr val="3F3A33"/>
                </a:solidFill>
                <a:latin typeface="Malgun Gothic"/>
                <a:ea typeface="Malgun Gothic"/>
                <a:cs typeface="Malgun Gothic"/>
              </a:rPr>
              <a:t>삽입 &gt; 비디오 로 영상 파일 배치 · 발표 전 재생 확인 요망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03 · SESSION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짧은 세션, 긴 몰입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lang="ko-KR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// 게임 전체는 깊지만, 1회 플레이는 짧게 즐길 수 있도록 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03120"/>
            <a:ext cx="4907127" cy="365760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514600"/>
            <a:ext cx="40841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1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71800"/>
            <a:ext cx="408416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0" i="0" lang="ko-KR">
                <a:solidFill>
                  <a:srgbClr val="D2C4A7"/>
                </a:solidFill>
                <a:latin typeface="Instrument Serif"/>
                <a:ea typeface="Instrument Serif"/>
                <a:cs typeface="Instrument Serif"/>
              </a:rPr>
              <a:t>10~15</a:t>
            </a:r>
            <a:r>
              <a:rPr sz="24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 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4480560"/>
            <a:ext cx="408416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 lang="ko-KR">
                <a:solidFill>
                  <a:srgbClr val="9E9282"/>
                </a:solidFill>
                <a:latin typeface="Malgun Gothic"/>
                <a:ea typeface="Malgun Gothic"/>
                <a:cs typeface="Malgun Gothic"/>
              </a:rPr>
              <a:t>스테이지 1회 플레이 타임.</a:t>
            </a:r>
          </a:p>
          <a:p>
            <a:pPr algn="l">
              <a:lnSpc>
                <a:spcPct val="140000"/>
              </a:lnSpc>
            </a:pPr>
            <a:r>
              <a:rPr sz="12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짧게 켜서 한 판 즐기기 좋은 단위.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2103120"/>
            <a:ext cx="4907127" cy="365760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0207" y="2514600"/>
            <a:ext cx="40841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FULL 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7" y="2971800"/>
            <a:ext cx="408416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0" i="0" lang="ko-KR">
                <a:solidFill>
                  <a:srgbClr val="D2C4A7"/>
                </a:solidFill>
                <a:latin typeface="Instrument Serif"/>
                <a:ea typeface="Instrument Serif"/>
                <a:cs typeface="Instrument Serif"/>
              </a:rPr>
              <a:t>LONG</a:t>
            </a:r>
            <a:r>
              <a:rPr sz="24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 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0207" y="4480560"/>
            <a:ext cx="408416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 lang="ko-KR">
                <a:solidFill>
                  <a:srgbClr val="9E9282"/>
                </a:solidFill>
                <a:latin typeface="Malgun Gothic"/>
                <a:ea typeface="Malgun Gothic"/>
                <a:cs typeface="Malgun Gothic"/>
              </a:rPr>
              <a:t>반복 플레이 · 빌드 탐구 · 자원 운영.</a:t>
            </a:r>
          </a:p>
          <a:p>
            <a:pPr algn="l">
              <a:lnSpc>
                <a:spcPct val="140000"/>
              </a:lnSpc>
            </a:pPr>
            <a:r>
              <a:rPr sz="12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전체 몰입은 길게 이어진다.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04 · CORE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핵심 시스템</a:t>
            </a:r>
          </a:p>
        </p:txBody>
      </p:sp>
      <p:sp>
        <p:nvSpPr>
          <p:cNvPr id="5" name="Oval 4"/>
          <p:cNvSpPr/>
          <p:nvPr/>
        </p:nvSpPr>
        <p:spPr>
          <a:xfrm>
            <a:off x="1695411" y="2468880"/>
            <a:ext cx="822960" cy="822960"/>
          </a:xfrm>
          <a:prstGeom prst="ellipse">
            <a:avLst/>
          </a:prstGeom>
          <a:noFill/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20210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47872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202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덱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70832"/>
            <a:ext cx="21106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역할 기반 스택 카드가</a:t>
            </a:r>
          </a:p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공용 자원을 축적한다.</a:t>
            </a:r>
          </a:p>
        </p:txBody>
      </p:sp>
      <p:sp>
        <p:nvSpPr>
          <p:cNvPr id="10" name="Oval 9"/>
          <p:cNvSpPr/>
          <p:nvPr/>
        </p:nvSpPr>
        <p:spPr>
          <a:xfrm>
            <a:off x="4354715" y="2468880"/>
            <a:ext cx="822960" cy="822960"/>
          </a:xfrm>
          <a:prstGeom prst="ellipse">
            <a:avLst/>
          </a:prstGeom>
          <a:noFill/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5143" y="2468880"/>
            <a:ext cx="220210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143" y="3547872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BATTLE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3" y="3840480"/>
            <a:ext cx="2202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전투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0863" y="4370832"/>
            <a:ext cx="21106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드로우 → 카드 플레이 →</a:t>
            </a:r>
          </a:p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동료 행동 → 적 행동의 흐름.</a:t>
            </a:r>
          </a:p>
        </p:txBody>
      </p:sp>
      <p:sp>
        <p:nvSpPr>
          <p:cNvPr id="15" name="Oval 14"/>
          <p:cNvSpPr/>
          <p:nvPr/>
        </p:nvSpPr>
        <p:spPr>
          <a:xfrm>
            <a:off x="7014019" y="2468880"/>
            <a:ext cx="822960" cy="822960"/>
          </a:xfrm>
          <a:prstGeom prst="ellipse">
            <a:avLst/>
          </a:prstGeom>
          <a:noFill/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2468880"/>
            <a:ext cx="220210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547872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STRESS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840480"/>
            <a:ext cx="2202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스트레스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4370832"/>
            <a:ext cx="21106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정신 압박 자원이 전투 외적</a:t>
            </a:r>
          </a:p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긴장감까지 확장한다.</a:t>
            </a:r>
          </a:p>
        </p:txBody>
      </p:sp>
      <p:sp>
        <p:nvSpPr>
          <p:cNvPr id="20" name="Oval 19"/>
          <p:cNvSpPr/>
          <p:nvPr/>
        </p:nvSpPr>
        <p:spPr>
          <a:xfrm>
            <a:off x="9673323" y="2468880"/>
            <a:ext cx="822960" cy="822960"/>
          </a:xfrm>
          <a:prstGeom prst="ellipse">
            <a:avLst/>
          </a:prstGeom>
          <a:noFill/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3751" y="2468880"/>
            <a:ext cx="220210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3751" y="3547872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ECONOMY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3751" y="3840480"/>
            <a:ext cx="2202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이중 재화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9471" y="4370832"/>
            <a:ext cx="21106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탐험/마을 재화를 나눠</a:t>
            </a:r>
          </a:p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중장기 의사결정을 유도한다.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05 ·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개발 개요</a:t>
            </a:r>
          </a:p>
        </p:txBody>
      </p:sp>
      <p:sp>
        <p:nvSpPr>
          <p:cNvPr id="5" name="Oval 4"/>
          <p:cNvSpPr/>
          <p:nvPr/>
        </p:nvSpPr>
        <p:spPr>
          <a:xfrm>
            <a:off x="1695411" y="2468880"/>
            <a:ext cx="822960" cy="822960"/>
          </a:xfrm>
          <a:prstGeom prst="ellipse">
            <a:avLst/>
          </a:prstGeom>
          <a:noFill/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20210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47872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202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플랫폼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70832"/>
            <a:ext cx="21106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PC(Windows) 기반 개발을</a:t>
            </a:r>
          </a:p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우선 목표로 한다.</a:t>
            </a:r>
          </a:p>
        </p:txBody>
      </p:sp>
      <p:sp>
        <p:nvSpPr>
          <p:cNvPr id="10" name="Oval 9"/>
          <p:cNvSpPr/>
          <p:nvPr/>
        </p:nvSpPr>
        <p:spPr>
          <a:xfrm>
            <a:off x="4354715" y="2468880"/>
            <a:ext cx="822960" cy="822960"/>
          </a:xfrm>
          <a:prstGeom prst="ellipse">
            <a:avLst/>
          </a:prstGeom>
          <a:noFill/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5143" y="2468880"/>
            <a:ext cx="220210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143" y="3547872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3" y="3840480"/>
            <a:ext cx="2202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구현 우선순위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0863" y="4370832"/>
            <a:ext cx="21106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핵심 시스템 구현과 전투 루프</a:t>
            </a:r>
          </a:p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완성도를 우선 검증한다.</a:t>
            </a:r>
          </a:p>
        </p:txBody>
      </p:sp>
      <p:sp>
        <p:nvSpPr>
          <p:cNvPr id="15" name="Oval 14"/>
          <p:cNvSpPr/>
          <p:nvPr/>
        </p:nvSpPr>
        <p:spPr>
          <a:xfrm>
            <a:off x="7014019" y="2468880"/>
            <a:ext cx="822960" cy="822960"/>
          </a:xfrm>
          <a:prstGeom prst="ellipse">
            <a:avLst/>
          </a:prstGeom>
          <a:noFill/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2468880"/>
            <a:ext cx="220210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547872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840480"/>
            <a:ext cx="2202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데이터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4370832"/>
            <a:ext cx="21106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ScriptableObject + JSON</a:t>
            </a:r>
          </a:p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하이브리드 구조로 설계한다.</a:t>
            </a:r>
          </a:p>
        </p:txBody>
      </p:sp>
      <p:sp>
        <p:nvSpPr>
          <p:cNvPr id="20" name="Oval 19"/>
          <p:cNvSpPr/>
          <p:nvPr/>
        </p:nvSpPr>
        <p:spPr>
          <a:xfrm>
            <a:off x="9673323" y="2468880"/>
            <a:ext cx="822960" cy="822960"/>
          </a:xfrm>
          <a:prstGeom prst="ellipse">
            <a:avLst/>
          </a:prstGeom>
          <a:noFill/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3751" y="2468880"/>
            <a:ext cx="220210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3751" y="3547872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3751" y="3840480"/>
            <a:ext cx="2202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활용 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9471" y="4370832"/>
            <a:ext cx="21106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팀 포트폴리오 및 인디 게임</a:t>
            </a:r>
          </a:p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공모전 확장을 염두에 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06 ·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개발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lang="ko-KR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// 2026.03 – 2026.06 · 기획 → MVP → 최종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901952"/>
            <a:ext cx="11561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lang="ko-KR" spc="100">
                <a:solidFill>
                  <a:srgbClr val="9E9282"/>
                </a:solidFill>
                <a:latin typeface="Courier New"/>
                <a:ea typeface="Courier New"/>
                <a:cs typeface="Courier New"/>
              </a:rPr>
              <a:t>3월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4주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2683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5주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0767" y="1901952"/>
            <a:ext cx="2890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lang="ko-KR" spc="100">
                <a:solidFill>
                  <a:srgbClr val="9E9282"/>
                </a:solidFill>
                <a:latin typeface="Courier New"/>
                <a:ea typeface="Courier New"/>
                <a:cs typeface="Courier New"/>
              </a:rPr>
              <a:t>4월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0767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1주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8851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2주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934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3주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5018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4주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3102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5주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1185" y="1901952"/>
            <a:ext cx="2890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lang="ko-KR" spc="100">
                <a:solidFill>
                  <a:srgbClr val="9E9282"/>
                </a:solidFill>
                <a:latin typeface="Courier New"/>
                <a:ea typeface="Courier New"/>
                <a:cs typeface="Courier New"/>
              </a:rPr>
              <a:t>5월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1185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1주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9269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2주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353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3주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5436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4주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3520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5주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1604" y="1901952"/>
            <a:ext cx="17342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lang="ko-KR" spc="100">
                <a:solidFill>
                  <a:srgbClr val="9E9282"/>
                </a:solidFill>
                <a:latin typeface="Courier New"/>
                <a:ea typeface="Courier New"/>
                <a:cs typeface="Courier New"/>
              </a:rPr>
              <a:t>6월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1604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1주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9687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2주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771" y="2139696"/>
            <a:ext cx="5780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lang="ko-KR" spc="5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3주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359152"/>
            <a:ext cx="10180015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09113" y="1901952"/>
            <a:ext cx="10972" cy="4379976"/>
          </a:xfrm>
          <a:prstGeom prst="rect">
            <a:avLst/>
          </a:prstGeom>
          <a:solidFill>
            <a:srgbClr val="26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65280" y="1901952"/>
            <a:ext cx="10972" cy="4379976"/>
          </a:xfrm>
          <a:prstGeom prst="rect">
            <a:avLst/>
          </a:prstGeom>
          <a:solidFill>
            <a:srgbClr val="26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55699" y="1901952"/>
            <a:ext cx="10972" cy="4379976"/>
          </a:xfrm>
          <a:prstGeom prst="rect">
            <a:avLst/>
          </a:prstGeom>
          <a:solidFill>
            <a:srgbClr val="26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46117" y="1901952"/>
            <a:ext cx="10972" cy="4379976"/>
          </a:xfrm>
          <a:prstGeom prst="rect">
            <a:avLst/>
          </a:prstGeom>
          <a:solidFill>
            <a:srgbClr val="26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80368" y="1901952"/>
            <a:ext cx="10972" cy="4379976"/>
          </a:xfrm>
          <a:prstGeom prst="rect">
            <a:avLst/>
          </a:prstGeom>
          <a:solidFill>
            <a:srgbClr val="26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42032" y="2450592"/>
            <a:ext cx="1679387" cy="329184"/>
          </a:xfrm>
          <a:prstGeom prst="rect">
            <a:avLst/>
          </a:prstGeom>
          <a:solidFill>
            <a:srgbClr val="211F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42032" y="2450592"/>
            <a:ext cx="167938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시스템 기획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6283" y="2450592"/>
            <a:ext cx="5147889" cy="329184"/>
          </a:xfrm>
          <a:prstGeom prst="rect">
            <a:avLst/>
          </a:prstGeom>
          <a:solidFill>
            <a:srgbClr val="211F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6283" y="2450592"/>
            <a:ext cx="514788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콘텐츠 기획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2868" y="2839212"/>
            <a:ext cx="2257470" cy="329184"/>
          </a:xfrm>
          <a:prstGeom prst="rect">
            <a:avLst/>
          </a:prstGeom>
          <a:solidFill>
            <a:srgbClr val="211F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2868" y="2839212"/>
            <a:ext cx="225747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발표자료 제작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6283" y="3227832"/>
            <a:ext cx="5725972" cy="329184"/>
          </a:xfrm>
          <a:prstGeom prst="rect">
            <a:avLst/>
          </a:prstGeom>
          <a:solidFill>
            <a:srgbClr val="211F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6283" y="3227832"/>
            <a:ext cx="57259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76283" y="3616452"/>
            <a:ext cx="5147889" cy="329184"/>
          </a:xfrm>
          <a:prstGeom prst="rect">
            <a:avLst/>
          </a:prstGeom>
          <a:solidFill>
            <a:srgbClr val="211F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76283" y="3616452"/>
            <a:ext cx="514788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캐릭터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42032" y="4005072"/>
            <a:ext cx="7460223" cy="329184"/>
          </a:xfrm>
          <a:prstGeom prst="rect">
            <a:avLst/>
          </a:prstGeom>
          <a:solidFill>
            <a:srgbClr val="211F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42032" y="4005072"/>
            <a:ext cx="746022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UI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98199" y="4393692"/>
            <a:ext cx="6304056" cy="329184"/>
          </a:xfrm>
          <a:prstGeom prst="rect">
            <a:avLst/>
          </a:prstGeom>
          <a:solidFill>
            <a:srgbClr val="2B2820"/>
          </a:solidFill>
          <a:ln w="9525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8199" y="4393692"/>
            <a:ext cx="63040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클라이언트 개발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6283" y="4782312"/>
            <a:ext cx="5147889" cy="329184"/>
          </a:xfrm>
          <a:prstGeom prst="rect">
            <a:avLst/>
          </a:prstGeom>
          <a:solidFill>
            <a:srgbClr val="2B2820"/>
          </a:solidFill>
          <a:ln w="9525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76283" y="4782312"/>
            <a:ext cx="514788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밸런스 세팅 / 데이터 입력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79036" y="5170932"/>
            <a:ext cx="1101303" cy="329184"/>
          </a:xfrm>
          <a:prstGeom prst="rect">
            <a:avLst/>
          </a:prstGeom>
          <a:solidFill>
            <a:srgbClr val="2B2820"/>
          </a:solidFill>
          <a:ln w="9525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79036" y="5170932"/>
            <a:ext cx="110130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QA 완료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35203" y="5170932"/>
            <a:ext cx="523219" cy="329184"/>
          </a:xfrm>
          <a:prstGeom prst="rect">
            <a:avLst/>
          </a:prstGeom>
          <a:solidFill>
            <a:srgbClr val="0F2316"/>
          </a:solidFill>
          <a:ln w="9525">
            <a:solidFill>
              <a:srgbClr val="1E5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35203" y="5170932"/>
            <a:ext cx="52321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lang="ko-KR">
                <a:solidFill>
                  <a:srgbClr val="00FF66"/>
                </a:solidFill>
                <a:latin typeface="Malgun Gothic"/>
                <a:ea typeface="Malgun Gothic"/>
                <a:cs typeface="Malgun Gothic"/>
              </a:rPr>
              <a:t>최종 발표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76283" y="5559552"/>
            <a:ext cx="523219" cy="329184"/>
          </a:xfrm>
          <a:prstGeom prst="rect">
            <a:avLst/>
          </a:prstGeom>
          <a:solidFill>
            <a:srgbClr val="211F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76283" y="5559552"/>
            <a:ext cx="52321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1차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32450" y="5559552"/>
            <a:ext cx="523219" cy="329184"/>
          </a:xfrm>
          <a:prstGeom prst="rect">
            <a:avLst/>
          </a:prstGeom>
          <a:solidFill>
            <a:srgbClr val="211F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32450" y="5559552"/>
            <a:ext cx="52321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2차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66701" y="5559552"/>
            <a:ext cx="523219" cy="329184"/>
          </a:xfrm>
          <a:prstGeom prst="rect">
            <a:avLst/>
          </a:prstGeom>
          <a:solidFill>
            <a:srgbClr val="211F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66701" y="5559552"/>
            <a:ext cx="52321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3차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2868" y="5948172"/>
            <a:ext cx="1679387" cy="329184"/>
          </a:xfrm>
          <a:prstGeom prst="rect">
            <a:avLst/>
          </a:prstGeom>
          <a:solidFill>
            <a:srgbClr val="2B2820"/>
          </a:solidFill>
          <a:ln w="9525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2868" y="5948172"/>
            <a:ext cx="167938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MVP 개발 완료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2450592"/>
            <a:ext cx="1280160" cy="7178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기획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" y="3198114"/>
            <a:ext cx="10180015" cy="12801"/>
          </a:xfrm>
          <a:prstGeom prst="rect">
            <a:avLst/>
          </a:prstGeom>
          <a:solidFill>
            <a:srgbClr val="26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3227832"/>
            <a:ext cx="1280160" cy="11064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디자인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5840" y="4363974"/>
            <a:ext cx="10180015" cy="12801"/>
          </a:xfrm>
          <a:prstGeom prst="rect">
            <a:avLst/>
          </a:prstGeom>
          <a:solidFill>
            <a:srgbClr val="26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5840" y="4393692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개발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5840" y="4752594"/>
            <a:ext cx="10180015" cy="12801"/>
          </a:xfrm>
          <a:prstGeom prst="rect">
            <a:avLst/>
          </a:prstGeom>
          <a:solidFill>
            <a:srgbClr val="26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5840" y="4782312"/>
            <a:ext cx="1280160" cy="7178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밸런싱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5840" y="5529834"/>
            <a:ext cx="10180015" cy="12801"/>
          </a:xfrm>
          <a:prstGeom prst="rect">
            <a:avLst/>
          </a:prstGeom>
          <a:solidFill>
            <a:srgbClr val="26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40" y="5559552"/>
            <a:ext cx="1280160" cy="7178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빌드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07 ·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플레이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28800"/>
            <a:ext cx="2167813" cy="137160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84832"/>
            <a:ext cx="216781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 lang="ko-KR" spc="150">
                <a:solidFill>
                  <a:srgbClr val="5A5347"/>
                </a:solidFill>
                <a:latin typeface="Instrument Serif"/>
                <a:ea typeface="Instrument Serif"/>
                <a:cs typeface="Instrument Serif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42032"/>
            <a:ext cx="21678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수첩 수령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3653" y="228600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 lang="ko-KR">
                <a:solidFill>
                  <a:srgbClr val="4A453B"/>
                </a:solidFill>
                <a:latin typeface="Instrument Serif"/>
                <a:ea typeface="Instrument Serif"/>
                <a:cs typeface="Instrument Serif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676573" y="1828800"/>
            <a:ext cx="2167813" cy="137160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6573" y="2084832"/>
            <a:ext cx="216781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 lang="ko-KR" spc="150">
                <a:solidFill>
                  <a:srgbClr val="5A5347"/>
                </a:solidFill>
                <a:latin typeface="Instrument Serif"/>
                <a:ea typeface="Instrument Serif"/>
                <a:cs typeface="Instrument Serif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573" y="2542032"/>
            <a:ext cx="21678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철문 통과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4387" y="228600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 lang="ko-KR">
                <a:solidFill>
                  <a:srgbClr val="4A453B"/>
                </a:solidFill>
                <a:latin typeface="Instrument Serif"/>
                <a:ea typeface="Instrument Serif"/>
                <a:cs typeface="Instrument Serif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7307" y="1828800"/>
            <a:ext cx="2167813" cy="137160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7307" y="2084832"/>
            <a:ext cx="216781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 lang="ko-KR" spc="150">
                <a:solidFill>
                  <a:srgbClr val="5A5347"/>
                </a:solidFill>
                <a:latin typeface="Instrument Serif"/>
                <a:ea typeface="Instrument Serif"/>
                <a:cs typeface="Instrument Serif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542032"/>
            <a:ext cx="21678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탐험 / 전투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5121" y="228600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 lang="ko-KR">
                <a:solidFill>
                  <a:srgbClr val="4A453B"/>
                </a:solidFill>
                <a:latin typeface="Instrument Serif"/>
                <a:ea typeface="Instrument Serif"/>
                <a:cs typeface="Instrument Serif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8041" y="1828800"/>
            <a:ext cx="2167813" cy="137160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8041" y="2084832"/>
            <a:ext cx="216781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 lang="ko-KR" spc="150">
                <a:solidFill>
                  <a:srgbClr val="5A5347"/>
                </a:solidFill>
                <a:latin typeface="Instrument Serif"/>
                <a:ea typeface="Instrument Serif"/>
                <a:cs typeface="Instrument Serif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8041" y="2542032"/>
            <a:ext cx="21678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재정비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64992"/>
            <a:ext cx="1018001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FIELD NODE FLOW · 필드 노드 구조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663440"/>
            <a:ext cx="1188720" cy="548640"/>
          </a:xfrm>
          <a:prstGeom prst="rect">
            <a:avLst/>
          </a:prstGeom>
          <a:solidFill>
            <a:srgbClr val="17181B"/>
          </a:solidFill>
          <a:ln w="9525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663440"/>
            <a:ext cx="10424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노드 UI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3611880"/>
            <a:ext cx="1645920" cy="566928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16352" y="3611880"/>
            <a:ext cx="14996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전투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194560" y="3895344"/>
            <a:ext cx="548640" cy="1042416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743200" y="4315968"/>
            <a:ext cx="1645920" cy="566928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16352" y="4315968"/>
            <a:ext cx="14996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BOSS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2194560" y="4599431"/>
            <a:ext cx="548640" cy="338329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743200" y="5020056"/>
            <a:ext cx="1645920" cy="566928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6352" y="5020056"/>
            <a:ext cx="14996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화톳불(휴식처)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체력·스트레스 회복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194560" y="4937760"/>
            <a:ext cx="548640" cy="365760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743200" y="5724144"/>
            <a:ext cx="1645920" cy="566928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16352" y="5724144"/>
            <a:ext cx="14996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이벤트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194560" y="4937760"/>
            <a:ext cx="548640" cy="1069847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394960" y="4754880"/>
            <a:ext cx="1920240" cy="50292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68112" y="4754880"/>
            <a:ext cx="17739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엘리트 전투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더 큰 보상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4389120" y="5006340"/>
            <a:ext cx="1005840" cy="1001268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394960" y="5303520"/>
            <a:ext cx="1920240" cy="50292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68112" y="5303520"/>
            <a:ext cx="17739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용병소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동료 모집 · 합성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4389120" y="5554980"/>
            <a:ext cx="1005840" cy="452628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394960" y="5852160"/>
            <a:ext cx="1920240" cy="50292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68112" y="5852160"/>
            <a:ext cx="17739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교회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체력 회복 · 부활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389120" y="6007608"/>
            <a:ext cx="1005840" cy="96012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961120" y="4160520"/>
            <a:ext cx="1691640" cy="594360"/>
          </a:xfrm>
          <a:prstGeom prst="rect">
            <a:avLst/>
          </a:prstGeom>
          <a:solidFill>
            <a:srgbClr val="1A1B1E"/>
          </a:solidFill>
          <a:ln w="9525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34272" y="4160520"/>
            <a:ext cx="1545336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게임 결과 창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389120" y="3895344"/>
            <a:ext cx="4572000" cy="475488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389120" y="4544568"/>
            <a:ext cx="4572000" cy="54864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315200" y="4754880"/>
            <a:ext cx="2487168" cy="251460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08 · SYSTEM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덱 시스템 &amp; 전투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37943"/>
            <a:ext cx="41148" cy="566928"/>
          </a:xfrm>
          <a:prstGeom prst="rect">
            <a:avLst/>
          </a:prstGeom>
          <a:solidFill>
            <a:srgbClr val="4A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45870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덱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48840"/>
            <a:ext cx="45870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딜러/탱커/서포터 카드가 직업별 공용 스택에 수치를 누적한다.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7" y="1837943"/>
            <a:ext cx="41148" cy="566928"/>
          </a:xfrm>
          <a:prstGeom prst="rect">
            <a:avLst/>
          </a:prstGeom>
          <a:solidFill>
            <a:srgbClr val="4A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83080"/>
            <a:ext cx="45870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전투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148840"/>
            <a:ext cx="45870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드로우 → 카드 플레이 → 동료 행동 → 적 행동의 명확한 구조.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706624"/>
            <a:ext cx="41148" cy="566928"/>
          </a:xfrm>
          <a:prstGeom prst="rect">
            <a:avLst/>
          </a:prstGeom>
          <a:solidFill>
            <a:srgbClr val="4A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651760"/>
            <a:ext cx="45870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상태이상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17520"/>
            <a:ext cx="45870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중독, 도발, 스트레스 등 색상 상태 칩 UI로 표현.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2706624"/>
            <a:ext cx="41148" cy="566928"/>
          </a:xfrm>
          <a:prstGeom prst="rect">
            <a:avLst/>
          </a:prstGeom>
          <a:solidFill>
            <a:srgbClr val="4A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2651760"/>
            <a:ext cx="45870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적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3017520"/>
            <a:ext cx="45870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예측 가능하지만 변수 있는 패턴과 보스 상태 머신.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1018001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LEFT UI FLOW · 메뉴 및 상태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8567" y="4041648"/>
            <a:ext cx="2194560" cy="548640"/>
          </a:xfrm>
          <a:prstGeom prst="rect">
            <a:avLst/>
          </a:prstGeom>
          <a:solidFill>
            <a:srgbClr val="17181B"/>
          </a:solidFill>
          <a:ln w="9525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1719" y="4041648"/>
            <a:ext cx="20482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좌측 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1511" y="5257800"/>
            <a:ext cx="1828800" cy="96012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4663" y="5257800"/>
            <a:ext cx="16824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재화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유저의 재화 수량 확인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035911" y="4590288"/>
            <a:ext cx="4059936" cy="667512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151479" y="5257800"/>
            <a:ext cx="1828800" cy="96012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24631" y="5257800"/>
            <a:ext cx="16824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파티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파티 내 동료 정보 확인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065879" y="4590288"/>
            <a:ext cx="2029968" cy="667512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181447" y="5257800"/>
            <a:ext cx="1828800" cy="96012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4599" y="5257800"/>
            <a:ext cx="16824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덱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성향에 따른 덱 구성 확인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5847" y="4590288"/>
            <a:ext cx="0" cy="667512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211415" y="5257800"/>
            <a:ext cx="1828800" cy="96012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4567" y="5257800"/>
            <a:ext cx="16824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파티 편집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공격 순서 교체 · 구성원 변경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5847" y="4590288"/>
            <a:ext cx="2029968" cy="667512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241383" y="5257800"/>
            <a:ext cx="1828800" cy="960120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14535" y="5257800"/>
            <a:ext cx="16824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로그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전투 이벤트 나열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95847" y="4590288"/>
            <a:ext cx="4059936" cy="667512"/>
          </a:xfrm>
          <a:prstGeom prst="line">
            <a:avLst/>
          </a:prstGeom>
          <a:ln w="12700">
            <a:solidFill>
              <a:srgbClr val="6B6354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09 · LOOP &amp;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플레이 루프 /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3759" y="2340863"/>
            <a:ext cx="12801" cy="3291839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4519" y="1874519"/>
            <a:ext cx="9311335" cy="932688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066543"/>
            <a:ext cx="548640" cy="548640"/>
          </a:xfrm>
          <a:prstGeom prst="ellipse">
            <a:avLst/>
          </a:prstGeom>
          <a:solidFill>
            <a:srgbClr val="111214"/>
          </a:solidFill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66543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057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플레이 루프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423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874519"/>
            <a:ext cx="5608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lang="ko-KR">
                <a:solidFill>
                  <a:srgbClr val="9E9282"/>
                </a:solidFill>
                <a:latin typeface="Malgun Gothic"/>
                <a:ea typeface="Malgun Gothic"/>
                <a:cs typeface="Malgun Gothic"/>
              </a:rPr>
              <a:t>탐험 노드 선택 → 전투/이벤트 발생 → 자원 확보 → 팀 재정비의 순환.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2971800"/>
            <a:ext cx="9311335" cy="932688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163824"/>
            <a:ext cx="548640" cy="548640"/>
          </a:xfrm>
          <a:prstGeom prst="ellipse">
            <a:avLst/>
          </a:prstGeom>
          <a:solidFill>
            <a:srgbClr val="111214"/>
          </a:solidFill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638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154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MVP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5204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MVP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971800"/>
            <a:ext cx="5608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lang="ko-KR">
                <a:solidFill>
                  <a:srgbClr val="9E9282"/>
                </a:solidFill>
                <a:latin typeface="Malgun Gothic"/>
                <a:ea typeface="Malgun Gothic"/>
                <a:cs typeface="Malgun Gothic"/>
              </a:rPr>
              <a:t>지정 노드/전투 구간을 안정적으로 돌파하고 테스트 시나리오를 완료한다.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4069079"/>
            <a:ext cx="9311335" cy="932688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261103"/>
            <a:ext cx="548640" cy="548640"/>
          </a:xfrm>
          <a:prstGeom prst="ellipse">
            <a:avLst/>
          </a:prstGeom>
          <a:solidFill>
            <a:srgbClr val="111214"/>
          </a:solidFill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61103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25195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MVP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61771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MVP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4069079"/>
            <a:ext cx="5608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lang="ko-KR">
                <a:solidFill>
                  <a:srgbClr val="9E9282"/>
                </a:solidFill>
                <a:latin typeface="Malgun Gothic"/>
                <a:ea typeface="Malgun Gothic"/>
                <a:cs typeface="Malgun Gothic"/>
              </a:rPr>
              <a:t>동료 5종, 적 3종, 노드 4종(전투/이벤트/보스/화톳불).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5166359"/>
            <a:ext cx="9311335" cy="932688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5358383"/>
            <a:ext cx="548640" cy="548640"/>
          </a:xfrm>
          <a:prstGeom prst="ellipse">
            <a:avLst/>
          </a:prstGeom>
          <a:solidFill>
            <a:srgbClr val="111214"/>
          </a:solidFill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358383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349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향후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71499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EXPANSION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5166359"/>
            <a:ext cx="5608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lang="ko-KR">
                <a:solidFill>
                  <a:srgbClr val="9E9282"/>
                </a:solidFill>
                <a:latin typeface="Malgun Gothic"/>
                <a:ea typeface="Malgun Gothic"/>
                <a:cs typeface="Malgun Gothic"/>
              </a:rPr>
              <a:t>멀티 엔딩과 다회차 메타 진행으로 정식 엔딩 루트를 확장한다.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10 ·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차별점 &amp; 타깃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783080"/>
            <a:ext cx="4907127" cy="1207008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02536"/>
            <a:ext cx="4175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간접 전투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86584"/>
            <a:ext cx="4175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카드가 직접 공격하지 않고 공용 스택을 생성/소모한다.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783080"/>
            <a:ext cx="4907127" cy="1207008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487" y="2002536"/>
            <a:ext cx="4175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배치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2386584"/>
            <a:ext cx="4175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동료 자동행동이 배치 순서에 의해 고정된다.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264408"/>
            <a:ext cx="4907127" cy="1207008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83864"/>
            <a:ext cx="4175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심리 압박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67912"/>
            <a:ext cx="4175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스트레스 시스템이 전투 외적 긴장감을 강화한다.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3264408"/>
            <a:ext cx="4907127" cy="1207008"/>
          </a:xfrm>
          <a:prstGeom prst="rect">
            <a:avLst/>
          </a:prstGeom>
          <a:solidFill>
            <a:srgbClr val="17181B"/>
          </a:solidFill>
          <a:ln w="9525">
            <a:solidFill>
              <a:srgbClr val="3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4487" y="3483864"/>
            <a:ext cx="4175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타깃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3867912"/>
            <a:ext cx="4175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전략 게이머, 오컬트 팬, 성인 취향 플레이어를 겨냥한다.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800600"/>
            <a:ext cx="10180015" cy="1371600"/>
          </a:xfrm>
          <a:prstGeom prst="rect">
            <a:avLst/>
          </a:prstGeom>
          <a:solidFill>
            <a:srgbClr val="1A1B1E"/>
          </a:solidFill>
          <a:ln w="9525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5449824"/>
            <a:ext cx="77724" cy="77724"/>
          </a:xfrm>
          <a:prstGeom prst="ellipse">
            <a:avLst/>
          </a:prstGeom>
          <a:solidFill>
            <a:srgbClr val="00F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5074920"/>
            <a:ext cx="90827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카드 → 변수 생성 → 동료 자동행동.  </a:t>
            </a:r>
            <a:r>
              <a:rPr sz="1200" b="0" i="0" lang="ko-KR">
                <a:solidFill>
                  <a:srgbClr val="9E9282"/>
                </a:solidFill>
                <a:latin typeface="Malgun Gothic"/>
                <a:ea typeface="Malgun Gothic"/>
                <a:cs typeface="Malgun Gothic"/>
              </a:rPr>
              <a:t>서사가 전투를 이끄는 탐사 기반 덱빌더 — 차가운 지성으로 괴이를 통제하고 분류하는 지적 카타르시스.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5669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11 ·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팀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lang="ko-KR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// TEAM 578 · 역할 분담</a:t>
            </a:r>
          </a:p>
        </p:txBody>
      </p:sp>
      <p:sp>
        <p:nvSpPr>
          <p:cNvPr id="6" name="Oval 5"/>
          <p:cNvSpPr/>
          <p:nvPr/>
        </p:nvSpPr>
        <p:spPr>
          <a:xfrm>
            <a:off x="2047189" y="2240280"/>
            <a:ext cx="1005840" cy="1005840"/>
          </a:xfrm>
          <a:prstGeom prst="ellipse">
            <a:avLst/>
          </a:prstGeom>
          <a:solidFill>
            <a:srgbClr val="17181B"/>
          </a:solidFill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308853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고성모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CLIENT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79392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클라이언트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73168"/>
            <a:ext cx="272277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전투 시스템 · UI 구현</a:t>
            </a:r>
          </a:p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노드맵 · 보스 AI</a:t>
            </a:r>
          </a:p>
        </p:txBody>
      </p:sp>
      <p:sp>
        <p:nvSpPr>
          <p:cNvPr id="12" name="Oval 11"/>
          <p:cNvSpPr/>
          <p:nvPr/>
        </p:nvSpPr>
        <p:spPr>
          <a:xfrm>
            <a:off x="5592927" y="2240280"/>
            <a:ext cx="1005840" cy="1005840"/>
          </a:xfrm>
          <a:prstGeom prst="ellipse">
            <a:avLst/>
          </a:prstGeom>
          <a:solidFill>
            <a:srgbClr val="17181B"/>
          </a:solidFill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1578" y="2240280"/>
            <a:ext cx="308853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3520440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서상호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395020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GAME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1578" y="4279392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기획 / 디렉팅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4458" y="4773168"/>
            <a:ext cx="272277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기획 문서 · 기획-코드 정합</a:t>
            </a:r>
          </a:p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오디오 에셋 · 버그 픽스</a:t>
            </a:r>
          </a:p>
        </p:txBody>
      </p:sp>
      <p:sp>
        <p:nvSpPr>
          <p:cNvPr id="18" name="Oval 17"/>
          <p:cNvSpPr/>
          <p:nvPr/>
        </p:nvSpPr>
        <p:spPr>
          <a:xfrm>
            <a:off x="9138665" y="2240280"/>
            <a:ext cx="1005840" cy="1005840"/>
          </a:xfrm>
          <a:prstGeom prst="ellipse">
            <a:avLst/>
          </a:prstGeom>
          <a:solidFill>
            <a:srgbClr val="17181B"/>
          </a:solidFill>
          <a:ln w="12700">
            <a:solidFill>
              <a:srgbClr val="47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7316" y="2240280"/>
            <a:ext cx="308853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 i="0" lang="ko-KR">
                <a:solidFill>
                  <a:srgbClr val="D2C4A7"/>
                </a:solidFill>
                <a:latin typeface="Hogook Bold"/>
                <a:ea typeface="Hogook Bold"/>
                <a:cs typeface="Hogook Bold"/>
              </a:rPr>
              <a:t>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7316" y="3520440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권성현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7316" y="395020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lang="ko-KR" spc="20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ART &amp; ANIMATION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4279392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lang="ko-KR">
                <a:solidFill>
                  <a:srgbClr val="D2C4A7"/>
                </a:solidFill>
                <a:latin typeface="Malgun Gothic"/>
                <a:ea typeface="Malgun Gothic"/>
                <a:cs typeface="Malgun Gothic"/>
              </a:rPr>
              <a:t>아트 / 애니메이션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196" y="4773168"/>
            <a:ext cx="272277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동료·적 캐릭터</a:t>
            </a:r>
          </a:p>
          <a:p>
            <a:pPr algn="ctr">
              <a:lnSpc>
                <a:spcPct val="135000"/>
              </a:lnSpc>
            </a:pPr>
            <a:r>
              <a:rPr sz="1100" b="0" i="0" lang="ko-KR">
                <a:solidFill>
                  <a:srgbClr val="5A5347"/>
                </a:solidFill>
                <a:latin typeface="Malgun Gothic"/>
                <a:ea typeface="Malgun Gothic"/>
                <a:cs typeface="Malgun Gothic"/>
              </a:rPr>
              <a:t>애니메이션 전담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-bg-sof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23444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lang="ko-KR" spc="260">
                <a:solidFill>
                  <a:srgbClr val="5A5347"/>
                </a:solidFill>
                <a:latin typeface="Courier New"/>
                <a:ea typeface="Courier New"/>
                <a:cs typeface="Courier New"/>
              </a:rPr>
              <a:t>SECTION 12 · CLOSING · MISSION DEBRIEF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4367" y="1755648"/>
            <a:ext cx="822960" cy="12801"/>
          </a:xfrm>
          <a:prstGeom prst="rect">
            <a:avLst/>
          </a:prstGeom>
          <a:solidFill>
            <a:srgbClr val="4A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40280"/>
            <a:ext cx="121916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600" b="0" i="0" lang="ko-KR">
                <a:solidFill>
                  <a:srgbClr val="D2C4A7"/>
                </a:solidFill>
                <a:latin typeface="Instrument Serif"/>
                <a:ea typeface="Instrument Serif"/>
                <a:cs typeface="Instrument Serif"/>
              </a:rPr>
              <a:t>Open the door.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91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0" lang="ko-KR">
                <a:solidFill>
                  <a:srgbClr val="9E9282"/>
                </a:solidFill>
                <a:latin typeface="Instrument Serif"/>
                <a:ea typeface="Instrument Serif"/>
                <a:cs typeface="Instrument Serif"/>
              </a:rPr>
              <a:t>Manage the anomaly.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4526280"/>
            <a:ext cx="822960" cy="12801"/>
          </a:xfrm>
          <a:prstGeom prst="rect">
            <a:avLst/>
          </a:prstGeom>
          <a:solidFill>
            <a:srgbClr val="3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8006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 lang="ko-KR" spc="220">
                <a:solidFill>
                  <a:srgbClr val="6B6354"/>
                </a:solidFill>
                <a:latin typeface="Courier New"/>
                <a:ea typeface="Courier New"/>
                <a:cs typeface="Courier New"/>
              </a:rPr>
              <a:t>TEAM 578 · CAPSTONE 2026</a:t>
            </a:r>
          </a:p>
        </p:txBody>
      </p:sp>
      <p:sp>
        <p:nvSpPr>
          <p:cNvPr id="9" name="Rectangle 8"/>
          <p:cNvSpPr/>
          <p:nvPr/>
        </p:nvSpPr>
        <p:spPr>
          <a:xfrm rot="21180000">
            <a:off x="4312767" y="5440680"/>
            <a:ext cx="1554480" cy="457200"/>
          </a:xfrm>
          <a:prstGeom prst="rect">
            <a:avLst/>
          </a:prstGeom>
          <a:noFill/>
          <a:ln w="15240">
            <a:solidFill>
              <a:srgbClr val="4A45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21180000">
            <a:off x="4312767" y="544068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lang="ko-KR" spc="260">
                <a:solidFill>
                  <a:srgbClr val="55503F"/>
                </a:solidFill>
                <a:latin typeface="Courier New"/>
                <a:ea typeface="Courier New"/>
                <a:cs typeface="Courier New"/>
              </a:rPr>
              <a:t>APPROVED</a:t>
            </a:r>
          </a:p>
        </p:txBody>
      </p:sp>
      <p:sp>
        <p:nvSpPr>
          <p:cNvPr id="11" name="Rectangle 10"/>
          <p:cNvSpPr/>
          <p:nvPr/>
        </p:nvSpPr>
        <p:spPr>
          <a:xfrm rot="300000">
            <a:off x="6324447" y="5440680"/>
            <a:ext cx="1920240" cy="457200"/>
          </a:xfrm>
          <a:prstGeom prst="rect">
            <a:avLst/>
          </a:prstGeom>
          <a:noFill/>
          <a:ln w="15240">
            <a:solidFill>
              <a:srgbClr val="4A45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300000">
            <a:off x="6324447" y="544068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lang="ko-KR" spc="260">
                <a:solidFill>
                  <a:srgbClr val="55503F"/>
                </a:solidFill>
                <a:latin typeface="Courier New"/>
                <a:ea typeface="Courier New"/>
                <a:cs typeface="Courier New"/>
              </a:rPr>
              <a:t>INSPECTORATE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